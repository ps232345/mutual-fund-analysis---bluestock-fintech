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7" d="100"/>
          <a:sy n="97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0312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IGHT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DARK">
    <p:bg>
      <p:bgPr>
        <a:solidFill>
          <a:srgbClr val="0F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40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730">
              <a:alpha val="6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op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173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BLUESTOCK</a:t>
            </a:r>
            <a:r>
              <a:rPr lang="en-US" sz="2400" b="1" kern="0" spc="2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FINTECH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F2C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 PROJECT  ·  DATA ANALYST INTERNSHIP</a:t>
            </a:r>
            <a:endParaRPr lang="en-US" sz="1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0312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Mutual Fund Analytics Platform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658368" y="32186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550" dirty="0"/>
          </a:p>
        </p:txBody>
      </p:sp>
      <p:sp>
        <p:nvSpPr>
          <p:cNvPr id="8" name="sta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77640"/>
            <a:ext cx="1938528" cy="749808"/>
          </a:xfrm>
          <a:prstGeom prst="rect">
            <a:avLst/>
          </a:prstGeom>
          <a:solidFill>
            <a:srgbClr val="0C1B3A">
              <a:alpha val="82000"/>
            </a:srgbClr>
          </a:solidFill>
          <a:ln w="12700">
            <a:solidFill>
              <a:srgbClr val="3A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4059936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2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2100" dirty="0"/>
          </a:p>
        </p:txBody>
      </p:sp>
      <p:sp>
        <p:nvSpPr>
          <p:cNvPr id="10" name="sta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61488" y="3977640"/>
            <a:ext cx="1938528" cy="749808"/>
          </a:xfrm>
          <a:prstGeom prst="rect">
            <a:avLst/>
          </a:prstGeom>
          <a:solidFill>
            <a:srgbClr val="0C1B3A">
              <a:alpha val="82000"/>
            </a:srgbClr>
          </a:solidFill>
          <a:ln w="12700">
            <a:solidFill>
              <a:srgbClr val="3A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61488" y="4059936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87K+</a:t>
            </a:r>
            <a:endParaRPr lang="en-US" sz="2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Data</a:t>
            </a:r>
            <a:endParaRPr lang="en-US" sz="2100" dirty="0"/>
          </a:p>
        </p:txBody>
      </p:sp>
      <p:sp>
        <p:nvSpPr>
          <p:cNvPr id="12" name="sta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64608" y="3977640"/>
            <a:ext cx="1938528" cy="749808"/>
          </a:xfrm>
          <a:prstGeom prst="rect">
            <a:avLst/>
          </a:prstGeom>
          <a:solidFill>
            <a:srgbClr val="0C1B3A">
              <a:alpha val="82000"/>
            </a:srgbClr>
          </a:solidFill>
          <a:ln w="12700">
            <a:solidFill>
              <a:srgbClr val="3A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4059936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4.5 Yrs</a:t>
            </a:r>
            <a:endParaRPr lang="en-US" sz="2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2100" dirty="0"/>
          </a:p>
        </p:txBody>
      </p:sp>
      <p:sp>
        <p:nvSpPr>
          <p:cNvPr id="14" name="stat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67728" y="3977640"/>
            <a:ext cx="1938528" cy="749808"/>
          </a:xfrm>
          <a:prstGeom prst="rect">
            <a:avLst/>
          </a:prstGeom>
          <a:solidFill>
            <a:srgbClr val="0C1B3A">
              <a:alpha val="82000"/>
            </a:srgbClr>
          </a:solidFill>
          <a:ln w="12700">
            <a:solidFill>
              <a:srgbClr val="3A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67728" y="4059936"/>
            <a:ext cx="19385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C4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8368" y="48646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Mutual Fund / Fintech   ·   Data Source: AMFI India, mfapi.in, NSE/BSE   · 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82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10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24128"/>
            <a:ext cx="502920" cy="4572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AMFI data and complex risk metrics make data-driven fund selection hard. We build one unified analytics platform to solve it.</a:t>
            </a:r>
            <a:endParaRPr lang="en-US" sz="125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783080"/>
            <a:ext cx="3977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947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0F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REAL PROBLEMS</a:t>
            </a:r>
            <a:endParaRPr lang="en-US" sz="1250" dirty="0"/>
          </a:p>
        </p:txBody>
      </p:sp>
      <p:sp>
        <p:nvSpPr>
          <p:cNvPr id="8" name="problem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350008"/>
            <a:ext cx="365760" cy="365760"/>
          </a:xfrm>
          <a:prstGeom prst="ellipse">
            <a:avLst/>
          </a:prstGeom>
          <a:solidFill>
            <a:srgbClr val="0F1F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3134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 across TXT/PDF/HTML sources</a:t>
            </a:r>
            <a:endParaRPr lang="en-US" sz="1100" dirty="0"/>
          </a:p>
        </p:txBody>
      </p:sp>
      <p:sp>
        <p:nvSpPr>
          <p:cNvPr id="11" name="problem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784348"/>
            <a:ext cx="365760" cy="365760"/>
          </a:xfrm>
          <a:prstGeom prst="ellipse">
            <a:avLst/>
          </a:prstGeom>
          <a:solidFill>
            <a:srgbClr val="0F1F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27843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74777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risk-adjusted fund comparison</a:t>
            </a:r>
            <a:endParaRPr lang="en-US" sz="1100" dirty="0"/>
          </a:p>
        </p:txBody>
      </p:sp>
      <p:sp>
        <p:nvSpPr>
          <p:cNvPr id="14" name="problem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218688"/>
            <a:ext cx="365760" cy="365760"/>
          </a:xfrm>
          <a:prstGeom prst="ellipse">
            <a:avLst/>
          </a:prstGeom>
          <a:solidFill>
            <a:srgbClr val="0F1F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31821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/ tracking-error visibility</a:t>
            </a:r>
            <a:endParaRPr lang="en-US" sz="1100" dirty="0"/>
          </a:p>
        </p:txBody>
      </p:sp>
      <p:sp>
        <p:nvSpPr>
          <p:cNvPr id="17" name="problem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653028"/>
            <a:ext cx="365760" cy="365760"/>
          </a:xfrm>
          <a:prstGeom prst="ellipse">
            <a:avLst/>
          </a:prstGeom>
          <a:solidFill>
            <a:srgbClr val="0F1F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36530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64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 is a demographic blind spot</a:t>
            </a:r>
            <a:endParaRPr lang="en-US" sz="1100" dirty="0"/>
          </a:p>
        </p:txBody>
      </p:sp>
      <p:sp>
        <p:nvSpPr>
          <p:cNvPr id="20" name="problem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4087368"/>
            <a:ext cx="365760" cy="365760"/>
          </a:xfrm>
          <a:prstGeom prst="ellipse">
            <a:avLst/>
          </a:prstGeom>
          <a:solidFill>
            <a:srgbClr val="0F1F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40507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static monthly PDF reporting</a:t>
            </a:r>
            <a:endParaRPr lang="en-US" sz="1100" dirty="0"/>
          </a:p>
        </p:txBody>
      </p:sp>
      <p:sp>
        <p:nvSpPr>
          <p:cNvPr id="2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783080"/>
            <a:ext cx="3913632" cy="2743200"/>
          </a:xfrm>
          <a:prstGeom prst="rect">
            <a:avLst/>
          </a:prstGeom>
          <a:solidFill>
            <a:srgbClr val="0F1F44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194767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OBJECTIVE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37760" y="2258568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DB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platform that ingests public AMFI data through an ETL pipeline, stores it in a relational database, and surfaces insight via an interactive dashboard.</a:t>
            </a:r>
            <a:endParaRPr lang="en-US" sz="1150" dirty="0"/>
          </a:p>
        </p:txBody>
      </p:sp>
      <p:sp>
        <p:nvSpPr>
          <p:cNvPr id="26" name="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6048" y="3218688"/>
            <a:ext cx="100584" cy="10058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66360" y="309981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pipeline from raw AMFI data</a:t>
            </a:r>
            <a:endParaRPr lang="en-US" sz="1080" dirty="0"/>
          </a:p>
        </p:txBody>
      </p:sp>
      <p:sp>
        <p:nvSpPr>
          <p:cNvPr id="28" name="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6048" y="3479292"/>
            <a:ext cx="100584" cy="10058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66360" y="3360420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5-table star-schema database</a:t>
            </a:r>
            <a:endParaRPr lang="en-US" sz="1080" dirty="0"/>
          </a:p>
        </p:txBody>
      </p:sp>
      <p:sp>
        <p:nvSpPr>
          <p:cNvPr id="30" name="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6048" y="3739896"/>
            <a:ext cx="100584" cy="10058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66360" y="3621024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performance metrics per scheme</a:t>
            </a:r>
            <a:endParaRPr lang="en-US" sz="1080" dirty="0"/>
          </a:p>
        </p:txBody>
      </p:sp>
      <p:sp>
        <p:nvSpPr>
          <p:cNvPr id="32" name="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6048" y="4000500"/>
            <a:ext cx="100584" cy="10058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388162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 vs Nifty 50 / 100</a:t>
            </a:r>
            <a:endParaRPr lang="en-US" sz="1080" dirty="0"/>
          </a:p>
        </p:txBody>
      </p:sp>
      <p:sp>
        <p:nvSpPr>
          <p:cNvPr id="34" name="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6048" y="4261104"/>
            <a:ext cx="100584" cy="10058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66360" y="4142232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interactive BI dashboard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0292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Mutual Fund Analytics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955280" y="4791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82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0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 &amp; Datasets</a:t>
            </a:r>
            <a:endParaRPr lang="en-US" sz="3000" dirty="0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24128"/>
            <a:ext cx="502920" cy="4572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92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publicly sourced — no proprietary or confidential data is used.</a:t>
            </a:r>
            <a:endParaRPr lang="en-US" sz="125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737360"/>
            <a:ext cx="37947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" y="188366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0F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2376" y="2267712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India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" y="2450592"/>
            <a:ext cx="3392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Folio, SIP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" y="2633472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" y="2816352"/>
            <a:ext cx="3392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NAV (JSON API)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2376" y="2999232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mfdata.in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" y="3182112"/>
            <a:ext cx="3392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+ expense ratio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" y="3364992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India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" y="3547872"/>
            <a:ext cx="3392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index prices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22376" y="3730752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 India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" y="3913632"/>
            <a:ext cx="3392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 SmallCap index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2376" y="4096512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Monthly Notes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" y="4279392"/>
            <a:ext cx="3392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SIP &amp; flow data</a:t>
            </a:r>
            <a:endParaRPr lang="en-US" sz="950" dirty="0"/>
          </a:p>
        </p:txBody>
      </p:sp>
      <p:sp>
        <p:nvSpPr>
          <p:cNvPr id="2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1737360"/>
            <a:ext cx="19568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1737360"/>
            <a:ext cx="73152" cy="932688"/>
          </a:xfrm>
          <a:prstGeom prst="rect">
            <a:avLst/>
          </a:prstGeom>
          <a:solidFill>
            <a:srgbClr val="2C9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185623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9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73168" y="231343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2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5976" y="1737360"/>
            <a:ext cx="19568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5976" y="1737360"/>
            <a:ext cx="73152" cy="932688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94576" y="185623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87K+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12864" y="231343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2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834640"/>
            <a:ext cx="19568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6280" y="2834640"/>
            <a:ext cx="73152" cy="932688"/>
          </a:xfrm>
          <a:prstGeom prst="rect">
            <a:avLst/>
          </a:prstGeom>
          <a:solidFill>
            <a:srgbClr val="0F1F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9535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F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46K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773168" y="341071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1100" dirty="0"/>
          </a:p>
        </p:txBody>
      </p:sp>
      <p:sp>
        <p:nvSpPr>
          <p:cNvPr id="3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5976" y="2834640"/>
            <a:ext cx="195681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5976" y="2834640"/>
            <a:ext cx="73152" cy="932688"/>
          </a:xfrm>
          <a:prstGeom prst="rect">
            <a:avLst/>
          </a:prstGeom>
          <a:solidFill>
            <a:srgbClr val="7A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94576" y="29535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A4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32K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912864" y="341071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txns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3858768"/>
            <a:ext cx="4096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80" i="1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datasets: fund_master · nav_history · aum_by_fund_house · monthly_sip_inflows · scheme_performance · investor_transactions · portfolio_holdings · benchmark_indices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0292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Mutual Fund Analytics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791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82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10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ETL Pipeline</a:t>
            </a:r>
            <a:endParaRPr lang="en-US" sz="2800" dirty="0"/>
          </a:p>
        </p:txBody>
      </p:sp>
      <p:sp>
        <p:nvSpPr>
          <p:cNvPr id="4" name="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24128"/>
            <a:ext cx="502920" cy="4572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152144"/>
            <a:ext cx="8092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Extract → Transform → Load → Analyse → Visualise pipeline.</a:t>
            </a:r>
            <a:endParaRPr lang="en-US" sz="1250" dirty="0"/>
          </a:p>
        </p:txBody>
      </p:sp>
      <p:sp>
        <p:nvSpPr>
          <p:cNvPr id="6" name="lay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783080"/>
            <a:ext cx="1503274" cy="2331720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layer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783080"/>
            <a:ext cx="1503274" cy="457200"/>
          </a:xfrm>
          <a:prstGeom prst="rect">
            <a:avLst/>
          </a:prstGeom>
          <a:solidFill>
            <a:srgbClr val="12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783080"/>
            <a:ext cx="1503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1356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9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76072" y="277063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" y="3081528"/>
            <a:ext cx="1320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NAV/API, mfapi.in, NSE/BSE bhavcopy, CSV datasets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06194" y="2811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A2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lay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70786" y="1783080"/>
            <a:ext cx="1503274" cy="2331720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ayer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70786" y="1783080"/>
            <a:ext cx="1503274" cy="457200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70786" y="1783080"/>
            <a:ext cx="1503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3938" y="2331720"/>
            <a:ext cx="1356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225650" y="277063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62226" y="3081528"/>
            <a:ext cx="1320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clean, forward-fill NAV, derived returns, normalise names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5771" y="2811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A2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lay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0363" y="1783080"/>
            <a:ext cx="1503274" cy="2331720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ayer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0363" y="1783080"/>
            <a:ext cx="1503274" cy="457200"/>
          </a:xfrm>
          <a:prstGeom prst="rect">
            <a:avLst/>
          </a:prstGeom>
          <a:solidFill>
            <a:srgbClr val="17A2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20363" y="1783080"/>
            <a:ext cx="1503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93515" y="2331720"/>
            <a:ext cx="1356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7A2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875227" y="277063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Storage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11803" y="3081528"/>
            <a:ext cx="1320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SQLite/PostgreSQL star schema, indexed on code + date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5349" y="2811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A2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lay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9941" y="1783080"/>
            <a:ext cx="1503274" cy="2331720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layer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9941" y="1783080"/>
            <a:ext cx="1503274" cy="457200"/>
          </a:xfrm>
          <a:prstGeom prst="rect">
            <a:avLst/>
          </a:prstGeom>
          <a:solidFill>
            <a:srgbClr val="7A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69941" y="1783080"/>
            <a:ext cx="1503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43093" y="2331720"/>
            <a:ext cx="1356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A4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524805" y="277063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61381" y="3081528"/>
            <a:ext cx="1320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notebooks, Sharpe/Sortino/Alpha/Beta, cohorts, geo heatmap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54926" y="2811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A2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4" name="lay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19518" y="1783080"/>
            <a:ext cx="1503274" cy="2331720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layer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19518" y="1783080"/>
            <a:ext cx="1503274" cy="457200"/>
          </a:xfrm>
          <a:prstGeom prst="rect">
            <a:avLst/>
          </a:prstGeom>
          <a:solidFill>
            <a:srgbClr val="1FA9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19518" y="1783080"/>
            <a:ext cx="1503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92670" y="2331720"/>
            <a:ext cx="1356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A9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174382" y="277063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10958" y="3081528"/>
            <a:ext cx="1320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Tableau, 4 pages, slicers, KPI cards, PDF export</a:t>
            </a:r>
            <a:endParaRPr lang="en-US" sz="900" dirty="0"/>
          </a:p>
        </p:txBody>
      </p:sp>
      <p:sp>
        <p:nvSpPr>
          <p:cNvPr id="40" name="schema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4315968"/>
            <a:ext cx="8101584" cy="384048"/>
          </a:xfrm>
          <a:prstGeom prst="rect">
            <a:avLst/>
          </a:prstGeom>
          <a:solidFill>
            <a:srgbClr val="0C1B3A"/>
          </a:solidFill>
          <a:ln w="12700">
            <a:solidFill>
              <a:srgbClr val="E3A2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5800" y="43159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3A2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 </a:t>
            </a:r>
            <a:r>
              <a:rPr lang="en-US" sz="10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dimensions (dim_fund, dim_date) + 5 fact tables (nav, transactions, performance, portfolio, aum) — indexed for fast queries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Mutual Fund Analytics Platform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55280" y="4791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82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  ·  EXPLORATORY DATA ANALYSIS</a:t>
            </a:r>
            <a:endParaRPr lang="en-US" sz="10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Highlights — Market &amp; Growth Trends</a:t>
            </a:r>
            <a:endParaRPr lang="en-US" sz="2600" dirty="0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24128"/>
            <a:ext cx="502920" cy="4572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15214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publication-quality charts profile NAV, AUM and SIP behaviour across 40 schemes.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Mutual Fund Analytics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791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  <p:pic>
        <p:nvPicPr>
          <p:cNvPr id="901" name="chart_na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203682"/>
            <a:ext cx="3977640" cy="1810555"/>
          </a:xfrm>
          <a:prstGeom prst="rect">
            <a:avLst/>
          </a:prstGeom>
        </p:spPr>
      </p:pic>
      <p:pic>
        <p:nvPicPr>
          <p:cNvPr id="910" name="chart_fund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131072"/>
            <a:ext cx="3977640" cy="19557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82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  ·  EXPLORATORY DATA ANALYSIS</a:t>
            </a:r>
            <a:endParaRPr lang="en-US" sz="10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Highlights — Flows &amp; Investors</a:t>
            </a:r>
            <a:endParaRPr lang="en-US" sz="2600" dirty="0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24128"/>
            <a:ext cx="502920" cy="4572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15214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demographics, SIP flows and portfolio concentration at a glance.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Mutual Fund Analytics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791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" dirty="0"/>
          </a:p>
        </p:txBody>
      </p:sp>
      <p:pic>
        <p:nvPicPr>
          <p:cNvPr id="902" name="chart_s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855" y="1691640"/>
            <a:ext cx="3020346" cy="1371600"/>
          </a:xfrm>
          <a:prstGeom prst="rect">
            <a:avLst/>
          </a:prstGeom>
        </p:spPr>
      </p:pic>
      <p:pic>
        <p:nvPicPr>
          <p:cNvPr id="903" name="chart_catin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363" y="1691640"/>
            <a:ext cx="2787217" cy="1371600"/>
          </a:xfrm>
          <a:prstGeom prst="rect">
            <a:avLst/>
          </a:prstGeom>
        </p:spPr>
      </p:pic>
      <p:pic>
        <p:nvPicPr>
          <p:cNvPr id="904" name="chart_tx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4725" y="3209544"/>
            <a:ext cx="1350606" cy="1371600"/>
          </a:xfrm>
          <a:prstGeom prst="rect">
            <a:avLst/>
          </a:prstGeom>
        </p:spPr>
      </p:pic>
      <p:pic>
        <p:nvPicPr>
          <p:cNvPr id="905" name="chart_sec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983" y="3209544"/>
            <a:ext cx="2787977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82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05  ·  FUND PERFORMANCE ANALYTICS</a:t>
            </a:r>
            <a:endParaRPr lang="en-US" sz="10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&amp; Risk Metrics</a:t>
            </a:r>
            <a:endParaRPr lang="en-US" sz="2800" dirty="0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24128"/>
            <a:ext cx="502920" cy="4572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15214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metrics computed from NAV history for every scheme.</a:t>
            </a:r>
            <a:endParaRPr lang="en-US" sz="120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520000"/>
            <a:ext cx="2578608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520000"/>
            <a:ext cx="73152" cy="600000"/>
          </a:xfrm>
          <a:prstGeom prst="rect">
            <a:avLst/>
          </a:prstGeom>
          <a:solidFill>
            <a:srgbClr val="2C9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6100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18400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570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 − Rf) / σ</a:t>
            </a:r>
            <a:endParaRPr lang="en-US" sz="110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520000"/>
            <a:ext cx="2578608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520000"/>
            <a:ext cx="73152" cy="600000"/>
          </a:xfrm>
          <a:prstGeom prst="rect">
            <a:avLst/>
          </a:prstGeom>
          <a:solidFill>
            <a:srgbClr val="7A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11296" y="16100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Sortino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11296" y="18400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570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 − Rf) / σ↓</a:t>
            </a:r>
            <a:endParaRPr lang="en-US" sz="110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1520000"/>
            <a:ext cx="2578608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1520000"/>
            <a:ext cx="73152" cy="600000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72784" y="16100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 / Beta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72784" y="18400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570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OLS vs Nifty 100</a:t>
            </a:r>
            <a:endParaRPr lang="en-US" sz="1100" dirty="0"/>
          </a:p>
        </p:txBody>
      </p:sp>
      <p:sp>
        <p:nvSpPr>
          <p:cNvPr id="1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260000"/>
            <a:ext cx="2578608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2260000"/>
            <a:ext cx="73152" cy="600000"/>
          </a:xfrm>
          <a:prstGeom prst="rect">
            <a:avLst/>
          </a:prstGeom>
          <a:solidFill>
            <a:srgbClr val="C15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23500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Drawdown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" y="25800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570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min(NAV/peak − 1)</a:t>
            </a:r>
            <a:endParaRPr lang="en-US" sz="110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260000"/>
            <a:ext cx="2578608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260000"/>
            <a:ext cx="73152" cy="60000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11296" y="23500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CAGR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11296" y="25800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570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(end/start)^(1/n) − 1</a:t>
            </a:r>
            <a:endParaRPr lang="en-US" sz="1100" dirty="0"/>
          </a:p>
        </p:txBody>
      </p:sp>
      <p:sp>
        <p:nvSpPr>
          <p:cNvPr id="2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2260000"/>
            <a:ext cx="2578608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2260000"/>
            <a:ext cx="73152" cy="600000"/>
          </a:xfrm>
          <a:prstGeom prst="rect">
            <a:avLst/>
          </a:prstGeom>
          <a:solidFill>
            <a:srgbClr val="0F1F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72784" y="23500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 Score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72784" y="25800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570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0–100 rank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Mutual Fund Analytics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4791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00" dirty="0"/>
          </a:p>
        </p:txBody>
      </p:sp>
      <p:pic>
        <p:nvPicPr>
          <p:cNvPr id="920" name="chart_top10r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00" y="3040000"/>
            <a:ext cx="2851608" cy="1660000"/>
          </a:xfrm>
          <a:prstGeom prst="rect">
            <a:avLst/>
          </a:prstGeom>
        </p:spPr>
      </p:pic>
      <p:pic>
        <p:nvPicPr>
          <p:cNvPr id="921" name="chart_sharp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610" y="3040000"/>
            <a:ext cx="2852417" cy="16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82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05  ·  FUND PERFORMANCE ANALYTICS</a:t>
            </a:r>
            <a:endParaRPr lang="en-US" sz="10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Comparison &amp; Rankings</a:t>
            </a:r>
            <a:endParaRPr lang="en-US" sz="2700" dirty="0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24128"/>
            <a:ext cx="502920" cy="4572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15214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returns benchmarked against Nifty 50 / Nifty 100 with rolling alpha and tracking error.</a:t>
            </a:r>
            <a:endParaRPr lang="en-US" sz="120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691640"/>
            <a:ext cx="3044952" cy="2834640"/>
          </a:xfrm>
          <a:prstGeom prst="rect">
            <a:avLst/>
          </a:prstGeom>
          <a:solidFill>
            <a:srgbClr val="0F1F44"/>
          </a:solidFill>
          <a:ln w="12700">
            <a:solidFill>
              <a:srgbClr val="DBE1EC"/>
            </a:solidFill>
            <a:prstDash val="solid"/>
          </a:ln>
          <a:effectLst>
            <a:outerShdw blurRad="88900" dist="38100" dir="8100000" algn="bl" rotWithShape="0">
              <a:srgbClr val="0A173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87452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ANSWERS</a:t>
            </a:r>
            <a:endParaRPr lang="en-US" sz="1200" dirty="0"/>
          </a:p>
        </p:txBody>
      </p:sp>
      <p:sp>
        <p:nvSpPr>
          <p:cNvPr id="12" name="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4728" y="2340864"/>
            <a:ext cx="100584" cy="10058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221284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fund beating its benchmark?</a:t>
            </a:r>
            <a:endParaRPr lang="en-US" sz="1100" dirty="0"/>
          </a:p>
        </p:txBody>
      </p:sp>
      <p:sp>
        <p:nvSpPr>
          <p:cNvPr id="14" name="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4728" y="2779776"/>
            <a:ext cx="100584" cy="10058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65176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3-month alpha vs Nifty 100</a:t>
            </a:r>
            <a:endParaRPr lang="en-US" sz="1100" dirty="0"/>
          </a:p>
        </p:txBody>
      </p:sp>
      <p:sp>
        <p:nvSpPr>
          <p:cNvPr id="16" name="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4728" y="3218688"/>
            <a:ext cx="100584" cy="10058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3090672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error &amp; information ratio</a:t>
            </a:r>
            <a:endParaRPr lang="en-US" sz="1100" dirty="0"/>
          </a:p>
        </p:txBody>
      </p:sp>
      <p:sp>
        <p:nvSpPr>
          <p:cNvPr id="18" name="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4728" y="3657600"/>
            <a:ext cx="100584" cy="10058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3529584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/ worst performer per category</a:t>
            </a:r>
            <a:endParaRPr lang="en-US" sz="1100" dirty="0"/>
          </a:p>
        </p:txBody>
      </p:sp>
      <p:sp>
        <p:nvSpPr>
          <p:cNvPr id="20" name="bull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4728" y="4096512"/>
            <a:ext cx="100584" cy="10058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3968496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fund scorecard ranking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Mutual Fund Analytics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791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900" dirty="0"/>
          </a:p>
        </p:txBody>
      </p:sp>
      <p:pic>
        <p:nvPicPr>
          <p:cNvPr id="906" name="chart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692698"/>
            <a:ext cx="4892040" cy="28325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82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06  ·  INTERACTIVE DASHBOARD</a:t>
            </a:r>
            <a:endParaRPr lang="en-US" sz="10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/ Tableau Dashboard</a:t>
            </a:r>
            <a:endParaRPr lang="en-US" sz="2800" dirty="0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24128"/>
            <a:ext cx="502920" cy="4572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15214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report — KPI cards, slicers and drill-through across four pages.</a:t>
            </a:r>
            <a:endParaRPr lang="en-US" sz="1200"/>
          </a:p>
        </p:txBody>
      </p:sp>
      <p:pic>
        <p:nvPicPr>
          <p:cNvPr id="30" name="Page 1 - Industry Overview" descr="Power BI Industry Overview page: KPI cards showing 40 total schemes, Rs.62.74 lakh crore AUM, Rs.31K crore SIP inflow and 26.12 crore folios; bar chart of top 5 fund houses by 5-year return; monthly SIP inflow trend line rising to 31K; folios-by-category donut and AUM table by fund hous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660000"/>
            <a:ext cx="3977640" cy="2233322"/>
          </a:xfrm>
          <a:prstGeom prst="rect">
            <a:avLst/>
          </a:prstGeom>
          <a:ln w="9525">
            <a:solidFill>
              <a:srgbClr val="27406E"/>
            </a:solidFill>
          </a:ln>
        </p:spPr>
      </p:pic>
      <p:pic>
        <p:nvPicPr>
          <p:cNvPr id="31" name="Page 2 - Fund Performance" descr="Power BI Performance Analytics page: KPI cards showing 14.52 percent average 5-year return, 1.36 average Sharpe ratio, 1.25 average alpha and 0.87 average beta; bar charts of top 10 schemes by 5-year return and top 5 by Sharpe ratio; risk-vs-return and alpha-vs-beta scatter plot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660000"/>
            <a:ext cx="3977640" cy="2246658"/>
          </a:xfrm>
          <a:prstGeom prst="rect">
            <a:avLst/>
          </a:prstGeom>
          <a:ln w="9525">
            <a:solidFill>
              <a:srgbClr val="27406E"/>
            </a:solidFill>
          </a:ln>
        </p:spPr>
      </p:pic>
      <p:sp>
        <p:nvSpPr>
          <p:cNvPr id="32" name="Caption 1"/>
          <p:cNvSpPr/>
          <p:nvPr/>
        </p:nvSpPr>
        <p:spPr>
          <a:xfrm>
            <a:off x="521208" y="3980000"/>
            <a:ext cx="397764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1 — Industry Overview</a:t>
            </a:r>
          </a:p>
          <a:p>
            <a:pPr marL="0" indent="0" algn="ctr">
              <a:buNone/>
            </a:pPr>
            <a:r>
              <a:rPr lang="en-US" sz="95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Schemes, AUM, SIP trend &amp; folios by category</a:t>
            </a:r>
          </a:p>
        </p:txBody>
      </p:sp>
      <p:sp>
        <p:nvSpPr>
          <p:cNvPr id="33" name="Caption 2"/>
          <p:cNvSpPr/>
          <p:nvPr/>
        </p:nvSpPr>
        <p:spPr>
          <a:xfrm>
            <a:off x="4645152" y="3980000"/>
            <a:ext cx="397764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2 — Fund Performance</a:t>
            </a:r>
          </a:p>
          <a:p>
            <a:pPr marL="0" indent="0" algn="ctr">
              <a:buNone/>
            </a:pPr>
            <a:r>
              <a:rPr lang="en-US" sz="95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returns, Sharpe ranking, risk-return &amp; alpha-beta</a:t>
            </a:r>
          </a:p>
        </p:txBody>
      </p:sp>
      <p:sp>
        <p:nvSpPr>
          <p:cNvPr id="21" name="Text 17"/>
          <p:cNvSpPr/>
          <p:nvPr/>
        </p:nvSpPr>
        <p:spPr>
          <a:xfrm>
            <a:off x="50292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Mutual Fund Analytics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4791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82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06  ·  INTERACTIVE DASHBOARD</a:t>
            </a:r>
            <a:endParaRPr lang="en-US" sz="10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800" b="1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 &amp; Portfolio Analytics</a:t>
            </a:r>
            <a:endParaRPr lang="en-US" sz="2800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24128"/>
            <a:ext cx="502920" cy="4572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15214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</a:t>
            </a:r>
            <a:r>
              <a:rPr lang="en-US" sz="120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report</a:t>
            </a:r>
            <a:r>
              <a:rPr lang="en-US" sz="12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pages with slicers on state, age group, category and date.</a:t>
            </a:r>
            <a:endParaRPr lang="en-US" sz="1200" dirty="0"/>
          </a:p>
        </p:txBody>
      </p:sp>
      <p:pic>
        <p:nvPicPr>
          <p:cNvPr id="30" name="Page 3 - Investor and Industry Insights" descr="Power BI Investor and Industry Insights page: transaction value by state map of India, SIP versus lumpsum split donut, age-group SIP contribution bars and investor-count KPIs across region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660000"/>
            <a:ext cx="3977640" cy="2220218"/>
          </a:xfrm>
          <a:prstGeom prst="rect">
            <a:avLst/>
          </a:prstGeom>
          <a:ln w="9525">
            <a:solidFill>
              <a:srgbClr val="27406E"/>
            </a:solidFill>
          </a:ln>
        </p:spPr>
      </p:pic>
      <p:pic>
        <p:nvPicPr>
          <p:cNvPr id="31" name="Page 4 - Portfolio Analytics" descr="Power BI Portfolio Analytics page: SIP inflow versus Nifty 50 dual-axis trend line, fund-category heatmap, top categories by AUM bar chart and holdings breakdown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660000"/>
            <a:ext cx="3977640" cy="2230704"/>
          </a:xfrm>
          <a:prstGeom prst="rect">
            <a:avLst/>
          </a:prstGeom>
          <a:ln w="9525">
            <a:solidFill>
              <a:srgbClr val="27406E"/>
            </a:solidFill>
          </a:ln>
        </p:spPr>
      </p:pic>
      <p:sp>
        <p:nvSpPr>
          <p:cNvPr id="32" name="Caption 1"/>
          <p:cNvSpPr/>
          <p:nvPr/>
        </p:nvSpPr>
        <p:spPr>
          <a:xfrm>
            <a:off x="521208" y="3980000"/>
            <a:ext cx="397764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3 — Investor &amp; Industry Insights</a:t>
            </a:r>
          </a:p>
          <a:p>
            <a:pPr marL="0" indent="0" algn="ctr">
              <a:buNone/>
            </a:pPr>
            <a:r>
              <a:rPr lang="en-US" sz="95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by state, SIP vs lumpsum &amp; age-group split</a:t>
            </a:r>
          </a:p>
        </p:txBody>
      </p:sp>
      <p:sp>
        <p:nvSpPr>
          <p:cNvPr id="33" name="Caption 2"/>
          <p:cNvSpPr/>
          <p:nvPr/>
        </p:nvSpPr>
        <p:spPr>
          <a:xfrm>
            <a:off x="4645152" y="3980000"/>
            <a:ext cx="397764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162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4 — Portfolio Analytics</a:t>
            </a:r>
          </a:p>
          <a:p>
            <a:pPr marL="0" indent="0" algn="ctr">
              <a:buNone/>
            </a:pPr>
            <a:r>
              <a:rPr lang="en-US" sz="95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vs Nifty 50 trend, category heatmap &amp; top holdings</a:t>
            </a:r>
          </a:p>
        </p:txBody>
      </p:sp>
      <p:sp>
        <p:nvSpPr>
          <p:cNvPr id="14" name="Text 12"/>
          <p:cNvSpPr/>
          <p:nvPr/>
        </p:nvSpPr>
        <p:spPr>
          <a:xfrm>
            <a:off x="50292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Mutual Fund Analytics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791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1828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07</a:t>
            </a:r>
            <a:endParaRPr lang="en-US" sz="10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365760"/>
            <a:ext cx="8138160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Insights</a:t>
            </a:r>
            <a:endParaRPr lang="en-US" sz="3000" dirty="0"/>
          </a:p>
        </p:txBody>
      </p:sp>
      <p:sp>
        <p:nvSpPr>
          <p:cNvPr id="4" name="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24128"/>
            <a:ext cx="502920" cy="45720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15214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AMFI data points anchoring the analysis (Dec 2025).</a:t>
            </a:r>
            <a:endParaRPr lang="en-US" sz="1200" dirty="0"/>
          </a:p>
        </p:txBody>
      </p:sp>
      <p:sp>
        <p:nvSpPr>
          <p:cNvPr id="6" name="findin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691640"/>
            <a:ext cx="2578608" cy="1207008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691640"/>
            <a:ext cx="2578608" cy="54864"/>
          </a:xfrm>
          <a:prstGeom prst="rect">
            <a:avLst/>
          </a:prstGeom>
          <a:solidFill>
            <a:srgbClr val="E3A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2376" y="183794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Rs.81 lakh cr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22376" y="225856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AUM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22376" y="249631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1,908 schemes — record scale</a:t>
            </a:r>
            <a:endParaRPr lang="en-US" sz="950" dirty="0"/>
          </a:p>
        </p:txBody>
      </p:sp>
      <p:sp>
        <p:nvSpPr>
          <p:cNvPr id="11" name="findin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691640"/>
            <a:ext cx="2578608" cy="1207008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691640"/>
            <a:ext cx="2578608" cy="54864"/>
          </a:xfrm>
          <a:prstGeom prst="rect">
            <a:avLst/>
          </a:prstGeom>
          <a:solidFill>
            <a:srgbClr val="2C9A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83864" y="183794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C9A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Rs.31,002 cr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83864" y="225856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SIP inflow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83864" y="249631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high, deepening equity culture</a:t>
            </a:r>
            <a:endParaRPr lang="en-US" sz="950" dirty="0"/>
          </a:p>
        </p:txBody>
      </p:sp>
      <p:sp>
        <p:nvSpPr>
          <p:cNvPr id="16" name="findin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1691640"/>
            <a:ext cx="2578608" cy="1207008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1691640"/>
            <a:ext cx="2578608" cy="54864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45352" y="183794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26.12 cr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45352" y="225856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 folios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45352" y="249631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13.26 cr in Jan 2022</a:t>
            </a:r>
            <a:endParaRPr lang="en-US" sz="950" dirty="0"/>
          </a:p>
        </p:txBody>
      </p:sp>
      <p:sp>
        <p:nvSpPr>
          <p:cNvPr id="21" name="findin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081528"/>
            <a:ext cx="2578608" cy="1207008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3081528"/>
            <a:ext cx="2578608" cy="54864"/>
          </a:xfrm>
          <a:prstGeom prst="rect">
            <a:avLst/>
          </a:prstGeom>
          <a:solidFill>
            <a:srgbClr val="1FA9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2376" y="322783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A9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9.35 cr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" y="364845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SIP accounts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2376" y="388620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retail participation</a:t>
            </a:r>
            <a:endParaRPr lang="en-US" sz="950" dirty="0"/>
          </a:p>
        </p:txBody>
      </p:sp>
      <p:sp>
        <p:nvSpPr>
          <p:cNvPr id="26" name="findin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3081528"/>
            <a:ext cx="2578608" cy="1207008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3081528"/>
            <a:ext cx="2578608" cy="54864"/>
          </a:xfrm>
          <a:prstGeom prst="rect">
            <a:avLst/>
          </a:prstGeom>
          <a:solidFill>
            <a:srgbClr val="7A4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83864" y="322783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A4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Rs.12.5L cr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483864" y="364845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SBI MF — largest AMC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83864" y="388620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ICICI Pru &amp; HDFC MF</a:t>
            </a:r>
            <a:endParaRPr lang="en-US" sz="950" dirty="0"/>
          </a:p>
        </p:txBody>
      </p:sp>
      <p:sp>
        <p:nvSpPr>
          <p:cNvPr id="31" name="findin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3081528"/>
            <a:ext cx="2578608" cy="1207008"/>
          </a:xfrm>
          <a:prstGeom prst="rect">
            <a:avLst/>
          </a:prstGeom>
          <a:solidFill>
            <a:srgbClr val="16294C"/>
          </a:solidFill>
          <a:ln w="12700">
            <a:solidFill>
              <a:srgbClr val="27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3081528"/>
            <a:ext cx="2578608" cy="54864"/>
          </a:xfrm>
          <a:prstGeom prst="rect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45352" y="3227832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9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 · Alpha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45352" y="364845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Risk-adjusted ranking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45352" y="388620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scored 0–100 vs benchmark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1208" y="4590288"/>
            <a:ext cx="8101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3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sourced from AMFI India / AMFI Monthly Notes; fund-level rankings computed in the project analytics.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Mutual Fund Analytics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791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73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BLUESTOCK</a:t>
            </a:r>
            <a:r>
              <a:rPr lang="en-US" sz="2200" b="1" kern="0" spc="200" dirty="0">
                <a:solidFill>
                  <a:srgbClr val="E3A2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FINTECH</a:t>
            </a:r>
            <a:endParaRPr lang="en-US" sz="2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0312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 — ETL, analytics &amp; interactive BI, end to end.</a:t>
            </a:r>
            <a:endParaRPr lang="en-US" sz="1500" dirty="0"/>
          </a:p>
        </p:txBody>
      </p:sp>
      <p:sp>
        <p:nvSpPr>
          <p:cNvPr id="6" name="deliverables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77640"/>
            <a:ext cx="7818120" cy="566928"/>
          </a:xfrm>
          <a:prstGeom prst="rect">
            <a:avLst/>
          </a:prstGeom>
          <a:solidFill>
            <a:srgbClr val="0C1B3A">
              <a:alpha val="80000"/>
            </a:srgbClr>
          </a:solidFill>
          <a:ln w="12700">
            <a:solidFill>
              <a:srgbClr val="3A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3A2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 </a:t>
            </a:r>
            <a:r>
              <a:rPr lang="en-US" sz="10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 ·  SQLite database  ·  EDA notebook  ·  performance metrics  ·  BI dashboard  ·  report + slides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4681728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github.com/&lt;your-repo&gt;   ·   Prepared by: Intern / Data Analyst — Bluestock Fintech   ·   June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998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Mutual Fund Analytics Platform</vt:lpstr>
      <vt:lpstr>Problem &amp; Objective</vt:lpstr>
      <vt:lpstr>Data Sources &amp; Datasets</vt:lpstr>
      <vt:lpstr>System Architecture &amp; ETL Pipeline</vt:lpstr>
      <vt:lpstr>EDA Highlights — Market &amp; Growth Trends</vt:lpstr>
      <vt:lpstr>EDA Highlights — Flows &amp; Investors</vt:lpstr>
      <vt:lpstr>Performance &amp; Risk Metrics</vt:lpstr>
      <vt:lpstr>Benchmark Comparison &amp; Rankings</vt:lpstr>
      <vt:lpstr>Power BI / Tableau Dashboard</vt:lpstr>
      <vt:lpstr>Investor &amp; Portfolio Analytics</vt:lpstr>
      <vt:lpstr>Key Findings &amp; 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Sable</dc:creator>
  <cp:lastModifiedBy>Prachi Sable</cp:lastModifiedBy>
  <cp:revision>2</cp:revision>
  <dcterms:created xsi:type="dcterms:W3CDTF">2026-07-29T18:40:29Z</dcterms:created>
  <dcterms:modified xsi:type="dcterms:W3CDTF">2026-07-29T20:06:11Z</dcterms:modified>
</cp:coreProperties>
</file>